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640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Sistema de Vigilancia Distribuido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6E4F0"/>
                </a:solidFill>
              </a:rPr>
              <a:t>Basado en Red de Radares Cooperativos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6E4F0"/>
                </a:solidFill>
              </a:rPr>
              <a:t>Trabajo de Fin de Grado · Grado en Ingeniería Informática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0"/>
                </a:solidFill>
              </a:rPr>
              <a:t>Escuela Politécnica Superior de Córdoba · Universidad de Córdoba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Alejandro Millán de Lara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Tutores: Dr. Fernando León García · Cristina Martínez Ruedas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D6E4F0"/>
                </a:solidFill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Estructura de la presentación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1. Motivación y contexto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2. Objetivos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3. El sistema de un vistazo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4. Hardware del nodo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5. Diseño mecánico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6. Arquitectura general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7. Protocolo TDMA dinámico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45720" cy="5120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8.  Protocolo binario nodo–servidor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9.  Firmware: arquitectura interna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10. Seguimiento y trilateración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11. Interfaz gráfica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12. Resultados experimentales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33333"/>
                </a:solidFill>
              </a:rPr>
              <a:t>• 13. Conclusiones y líneas futuras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Motivación y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El problema de coordinar varios sensores de bajo coste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Un sensor único cubre solo un sector angular limitado y no resuelve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    – ambigüedades de posición entre objetos a distancias similares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Desplegar varios sensores soluciona la cobertura, pero genera un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    – problema físico nuevo: la interferencia acústica (crosstalk)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El eco de un nodo puede ser captado por el receptor de otro y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    – confundirse con su propia reflexión → lecturas espurias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No es un fallo de software: las ondas se propagan sin lógica de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    – control, así que la coordinación debe ser explícita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73736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1097280"/>
                <a:gridCol w="2084832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Enfoque evaluado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Crosstalk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Viabilidad en este proyecto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Separación en frecuencia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Nulo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No: exige transductores especiales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Barrido secuencial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Nulo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No: latencia crece con N nodos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Contención CSMA/CA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No: vel. del sonido invalida la escucha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A6B"/>
                          </a:solidFill>
                        </a:rPr>
                        <a:t>TDMA dinámico + reutiliz. espacial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3A6B"/>
                          </a:solidFill>
                        </a:rPr>
                        <a:t>Nulo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3A6B"/>
                          </a:solidFill>
                        </a:rPr>
                        <a:t>Sí: elegido en este proyecto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Fuente: comparativa de enfoques de acceso al medio acústico (cap. Antecedentes)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Objetivos del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Construir un prototipo físico funcional con 3 nodos radar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Diseñar un protocolo TDMA dinámico con reutilización espacial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Implementar un servidor central de orquestación en Python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Desarrollar un algoritmo de trilateración cooperativa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Crear una interfaz gráfica de visualización en tiempo real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Validar el sistema mediante pruebas sobre el prototipo físico real</a:t>
            </a:r>
          </a:p>
        </p:txBody>
      </p:sp>
      <p:pic>
        <p:nvPicPr>
          <p:cNvPr id="6" name="Picture 5" descr="Diseño_General_Funcion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17320"/>
            <a:ext cx="5212080" cy="2573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El sistema de un vistazo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Tres nodos radar desplegados en triángulo. Cada nodo barre su sector de forma autónoma y reporta detecciones al servidor central, que coordina los disparos y estima posiciones cooperativamente.</a:t>
            </a:r>
          </a:p>
        </p:txBody>
      </p:sp>
      <p:pic>
        <p:nvPicPr>
          <p:cNvPr id="6" name="Picture 5" descr="AnexoDespliegueFis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5029200" cy="6577319"/>
          </a:xfrm>
          <a:prstGeom prst="rect">
            <a:avLst/>
          </a:prstGeom>
        </p:spPr>
      </p:pic>
      <p:pic>
        <p:nvPicPr>
          <p:cNvPr id="7" name="Picture 6" descr="DiagramaSistemaCompl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17320"/>
            <a:ext cx="6035040" cy="2696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Hardware del nodo radar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697480" cy="5120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w_esp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2423160" cy="22777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79" y="4434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ESP32 dual-core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4892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MCU WiFi, 240 MHz
2 núcleos independientes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1417320"/>
            <a:ext cx="2697480" cy="5120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w_hcsr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54480"/>
            <a:ext cx="2423160" cy="18322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3552" y="4434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HC-SR04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4892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Sensor ultrasónico
Rango: 2 – 400 cm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44184" y="1417320"/>
            <a:ext cx="2697480" cy="5120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w_nema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554480"/>
            <a:ext cx="2423160" cy="18173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35624" y="4434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NEMA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4892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Motor paso a paso
200 pasos/vuelta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6" y="1417320"/>
            <a:ext cx="2697480" cy="5120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w_a49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1554480"/>
            <a:ext cx="2423160" cy="22383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97696" y="4434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A4988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4892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Driver con micropasos
hasta 1/16 de paso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Diseño mecánico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Estructura impresa en 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Estructura diseñada en CAD e impresa en PLA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Soporte del sensor sobre el eje del motor paso a paso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Reed switch magnético para homing a 0°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3 iteraciones de diseño hasta la versión final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33333"/>
                </a:solidFill>
              </a:rPr>
              <a:t>• Coste de material: &lt;5 € por nodo</a:t>
            </a:r>
          </a:p>
        </p:txBody>
      </p:sp>
      <p:pic>
        <p:nvPicPr>
          <p:cNvPr id="7" name="Picture 6" descr="IteracionesDiseñ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14800"/>
            <a:ext cx="4389120" cy="1341298"/>
          </a:xfrm>
          <a:prstGeom prst="rect">
            <a:avLst/>
          </a:prstGeom>
        </p:spPr>
      </p:pic>
      <p:pic>
        <p:nvPicPr>
          <p:cNvPr id="8" name="Picture 7" descr="Diseño3D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17320"/>
            <a:ext cx="3200400" cy="2444055"/>
          </a:xfrm>
          <a:prstGeom prst="rect">
            <a:avLst/>
          </a:prstGeom>
        </p:spPr>
      </p:pic>
      <p:pic>
        <p:nvPicPr>
          <p:cNvPr id="9" name="Picture 8" descr="AnexoNodo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417320"/>
            <a:ext cx="3566160" cy="38261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general del sistema</a:t>
            </a:r>
          </a:p>
        </p:txBody>
      </p:sp>
      <p:pic>
        <p:nvPicPr>
          <p:cNvPr id="5" name="Picture 4" descr="DiagramaC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486400" cy="4001186"/>
          </a:xfrm>
          <a:prstGeom prst="rect">
            <a:avLst/>
          </a:prstGeom>
        </p:spPr>
      </p:pic>
      <p:pic>
        <p:nvPicPr>
          <p:cNvPr id="6" name="Picture 5" descr="ModeloClienteServi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17320"/>
            <a:ext cx="5943600" cy="3389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Arquitectura en 3 capas: firmware embebido (C++) · servidor central (Python) · GUI de visualización (Tkinter)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Protocolo TDMA dinámico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Solución al crosstalk sin hardware especializado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El servidor calcula qué pares de nodos son geométricamente incompatibles (zona sucia)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Criterio: solapamiento de conos de emisión dentro de CLEAN_LIMIT = 30°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Solo los pares conflictivos reciben ranuras temporales diferenciadas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El resto de nodos puede disparar en paralelo → reutilización espacial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La asignación se recalcula dinámicamente ante reconexiones o cambios angulares</a:t>
            </a:r>
          </a:p>
        </p:txBody>
      </p:sp>
      <p:pic>
        <p:nvPicPr>
          <p:cNvPr id="7" name="Picture 6" descr="FuncionamientoGeneralZ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5029200" cy="2634640"/>
          </a:xfrm>
          <a:prstGeom prst="rect">
            <a:avLst/>
          </a:prstGeom>
        </p:spPr>
      </p:pic>
      <p:pic>
        <p:nvPicPr>
          <p:cNvPr id="8" name="Picture 7" descr="DiagramaFlujoOrques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577840" cy="45894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Protocolo binario nodo–servidor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Comunicación TCP, mensajes de longitud fija con cabecera de 3 bytes (type + length)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Estructuras empaquetadas con #pragma pack → misma representación en ESP32 y Python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Handshake: HELLO → ASSIGN_ID → espera inicio de supertrama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Opcodes: START_SUPERFRAME, ASSIGN_SLOT, REQUEST_REPORT, REQUEST_ANGLE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Timeout de servidor inactivo 5 s + contador de fallos TCP → reinicio automático</a:t>
            </a:r>
          </a:p>
        </p:txBody>
      </p:sp>
      <p:pic>
        <p:nvPicPr>
          <p:cNvPr id="6" name="Picture 5" descr="DiagramaFlujoDescubri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4114800" cy="3093913"/>
          </a:xfrm>
          <a:prstGeom prst="rect">
            <a:avLst/>
          </a:prstGeom>
        </p:spPr>
      </p:pic>
      <p:pic>
        <p:nvPicPr>
          <p:cNvPr id="7" name="Picture 6" descr="DiagramaUMLProtoc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17320"/>
            <a:ext cx="5852160" cy="32333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Firmware: arquitectura interna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FreeRTOS sobre ESP32 dual-core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Core 0 → TaskComms: conexión TCP y protocolo con el servidor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Core 1 → TaskRadar: control determinista del motor y medición ToF por IRQ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Colas FreeRTOS como canal de comunicación entre tareas: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    – HwCommand (Comms → Radar): HOME, MOVE, EXECUTE_SLOT, SYNC_POS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    – HwResult  (Radar → Comms): distancia medida, ángulo alcanzado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FSM de alto nivel: CONNECTING → CONNECTED → OPERATING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Perfiles por MAC address: parámetros de hardware individuales por nodo</a:t>
            </a:r>
          </a:p>
        </p:txBody>
      </p:sp>
      <p:pic>
        <p:nvPicPr>
          <p:cNvPr id="7" name="Picture 6" descr="ArquitecturaCoresN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760720" cy="31582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Seguimiento y trilateración cooperativa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Modo SEARCH: barrido continuo buscando nuevas detecciones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Modo TRACK: enfoca el sensor en el ángulo de la última detección (TRACK_LOCK = 6 ciclos)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Zona de solapamiento: ≥ 2 nodos detectan el mismo objeto simultáneamente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Trilateración: intersección de circunferencias de radio = distancia medida por cada nodo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333333"/>
                </a:solidFill>
              </a:rPr>
              <a:t>• Posición estimada como el punto más cercano al conjunto de circunferencias</a:t>
            </a:r>
          </a:p>
        </p:txBody>
      </p:sp>
      <p:pic>
        <p:nvPicPr>
          <p:cNvPr id="6" name="Picture 5" descr="CalculoTrilate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4114800" cy="2128503"/>
          </a:xfrm>
          <a:prstGeom prst="rect">
            <a:avLst/>
          </a:prstGeom>
        </p:spPr>
      </p:pic>
      <p:pic>
        <p:nvPicPr>
          <p:cNvPr id="7" name="Picture 6" descr="FuncionamientoGeneralTrilate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17320"/>
            <a:ext cx="5852160" cy="30747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Interfaz gráfica (Tkinter)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A6B"/>
                </a:solidFill>
              </a:rPr>
              <a:t>Modo Diseño</a:t>
            </a:r>
          </a:p>
        </p:txBody>
      </p:sp>
      <p:pic>
        <p:nvPicPr>
          <p:cNvPr id="6" name="Picture 5" descr="ModoDiseño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1368"/>
            <a:ext cx="5394960" cy="28211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A6B"/>
                </a:solidFill>
              </a:rPr>
              <a:t>Modo Telemetría</a:t>
            </a:r>
          </a:p>
        </p:txBody>
      </p:sp>
      <p:pic>
        <p:nvPicPr>
          <p:cNvPr id="8" name="Picture 7" descr="ModoTelemetriaG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01368"/>
            <a:ext cx="5486400" cy="28788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Configuración de geometría y umbrales DEFCON · Visualización en tiempo real · Arranque/parada del servidor · Persistencia de sesión entre ejecuciones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experimentales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Validación sobre el prototipo físico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3749039" cy="5943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35608"/>
            <a:ext cx="3657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Prueba 1
Eliminación de crosstalk</a:t>
            </a:r>
          </a:p>
        </p:txBody>
      </p:sp>
      <p:pic>
        <p:nvPicPr>
          <p:cNvPr id="8" name="Picture 7" descr="Prueba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3749039" cy="19614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5230368"/>
            <a:ext cx="3749039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5276088"/>
            <a:ext cx="36575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0 lecturas espurias
en todos los escenarios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5383" y="1389888"/>
            <a:ext cx="3749039" cy="5943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3" y="1435608"/>
            <a:ext cx="3657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Prueba 2
Tolerancia a fallos</a:t>
            </a:r>
          </a:p>
        </p:txBody>
      </p:sp>
      <p:pic>
        <p:nvPicPr>
          <p:cNvPr id="13" name="Picture 12" descr="Prueba2.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3" y="2011680"/>
            <a:ext cx="3749039" cy="258014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215383" y="5230368"/>
            <a:ext cx="3749039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3" y="5276088"/>
            <a:ext cx="36575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Cobertura mantenida
ante pérdida y reconexión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8" y="1389888"/>
            <a:ext cx="3749039" cy="5943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435608"/>
            <a:ext cx="3657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Prueba 3
Trilateración cooperativa</a:t>
            </a:r>
          </a:p>
        </p:txBody>
      </p:sp>
      <p:pic>
        <p:nvPicPr>
          <p:cNvPr id="18" name="Picture 17" descr="Prueba3.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011680"/>
            <a:ext cx="3749039" cy="181982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156448" y="5230368"/>
            <a:ext cx="3749039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5276088"/>
            <a:ext cx="36575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Posición estimada coherente
con la geometría del despliegue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Conclusiones y líneas futuras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6B"/>
                </a:solidFill>
              </a:rPr>
              <a:t>Logros alcanzados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El protocolo TDMA dinámico elimina completamente el crosstalk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El sistema tolera desconexiones y reconexiones sin intervención manual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La trilateración cooperativa produce estimaciones coherentes con la geometría real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Todo con hardware de bajo coste (&lt;50 €/nodo) y software de código abierto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54864" cy="5212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8988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6B"/>
                </a:solidFill>
              </a:rPr>
              <a:t>Líneas futuras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Ampliar a más de 3 nodos con recálculo dinámico de zonas sucias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Sustituir ultrasonidos por sensores LIDAR o IR para mayor precisión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Clasificación de objetos: tamaño y velocidad estimada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• Portar el servidor a un microcontrolador para despliegue autónomo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06040"/>
            <a:ext cx="12188952" cy="640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4F0"/>
                </a:solidFill>
              </a:rPr>
              <a:t>Alejandro Millán de Lara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015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4F0"/>
                </a:solidFill>
              </a:rPr>
              <a:t>i12milaa@uco.es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9BD5"/>
                </a:solidFill>
              </a:rPr>
              <a:t>Sistema de Vigilancia Distribuido Basado en Red de Radares Cooperativos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